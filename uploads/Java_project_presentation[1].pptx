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23"/>
  </p:notesMasterIdLst>
  <p:handoutMasterIdLst>
    <p:handoutMasterId r:id="rId24"/>
  </p:handoutMasterIdLst>
  <p:sldIdLst>
    <p:sldId id="260" r:id="rId5"/>
    <p:sldId id="265" r:id="rId6"/>
    <p:sldId id="307" r:id="rId7"/>
    <p:sldId id="308" r:id="rId8"/>
    <p:sldId id="309" r:id="rId9"/>
    <p:sldId id="311" r:id="rId10"/>
    <p:sldId id="310" r:id="rId11"/>
    <p:sldId id="312" r:id="rId12"/>
    <p:sldId id="313" r:id="rId13"/>
    <p:sldId id="315" r:id="rId14"/>
    <p:sldId id="314" r:id="rId15"/>
    <p:sldId id="316" r:id="rId16"/>
    <p:sldId id="317" r:id="rId17"/>
    <p:sldId id="318" r:id="rId18"/>
    <p:sldId id="319" r:id="rId19"/>
    <p:sldId id="320" r:id="rId20"/>
    <p:sldId id="305" r:id="rId21"/>
    <p:sldId id="304" r:id="rId22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12E24343-9CF2-430A-8ECF-133E14386BCA}">
          <p14:sldIdLst>
            <p14:sldId id="260"/>
            <p14:sldId id="265"/>
            <p14:sldId id="307"/>
            <p14:sldId id="308"/>
            <p14:sldId id="309"/>
            <p14:sldId id="311"/>
            <p14:sldId id="310"/>
            <p14:sldId id="312"/>
            <p14:sldId id="313"/>
            <p14:sldId id="315"/>
            <p14:sldId id="314"/>
            <p14:sldId id="316"/>
            <p14:sldId id="317"/>
            <p14:sldId id="318"/>
            <p14:sldId id="319"/>
            <p14:sldId id="320"/>
            <p14:sldId id="305"/>
            <p14:sldId id="30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1152">
          <p15:clr>
            <a:srgbClr val="A4A3A4"/>
          </p15:clr>
        </p15:guide>
        <p15:guide id="5" orient="horz" pos="3360">
          <p15:clr>
            <a:srgbClr val="A4A3A4"/>
          </p15:clr>
        </p15:guide>
        <p15:guide id="6" orient="horz" pos="3072">
          <p15:clr>
            <a:srgbClr val="A4A3A4"/>
          </p15:clr>
        </p15:guide>
        <p15:guide id="7" orient="horz" pos="864">
          <p15:clr>
            <a:srgbClr val="A4A3A4"/>
          </p15:clr>
        </p15:guide>
        <p15:guide id="8" orient="horz" pos="528">
          <p15:clr>
            <a:srgbClr val="A4A3A4"/>
          </p15:clr>
        </p15:guide>
        <p15:guide id="9" orient="horz" pos="2784">
          <p15:clr>
            <a:srgbClr val="A4A3A4"/>
          </p15:clr>
        </p15:guide>
        <p15:guide id="10" pos="3839">
          <p15:clr>
            <a:srgbClr val="A4A3A4"/>
          </p15:clr>
        </p15:guide>
        <p15:guide id="11" pos="959">
          <p15:clr>
            <a:srgbClr val="A4A3A4"/>
          </p15:clr>
        </p15:guide>
        <p15:guide id="12" pos="7007">
          <p15:clr>
            <a:srgbClr val="A4A3A4"/>
          </p15:clr>
        </p15:guide>
        <p15:guide id="13" pos="6719">
          <p15:clr>
            <a:srgbClr val="A4A3A4"/>
          </p15:clr>
        </p15:guide>
        <p15:guide id="14" pos="6143">
          <p15:clr>
            <a:srgbClr val="A4A3A4"/>
          </p15:clr>
        </p15:guide>
        <p15:guide id="15" pos="3983">
          <p15:clr>
            <a:srgbClr val="A4A3A4"/>
          </p15:clr>
        </p15:guide>
        <p15:guide id="16" pos="527">
          <p15:clr>
            <a:srgbClr val="A4A3A4"/>
          </p15:clr>
        </p15:guide>
        <p15:guide id="17" pos="7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66"/>
    <a:srgbClr val="FF9933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>
      <p:cViewPr varScale="1">
        <p:scale>
          <a:sx n="78" d="100"/>
          <a:sy n="78" d="100"/>
        </p:scale>
        <p:origin x="878" y="72"/>
      </p:cViewPr>
      <p:guideLst>
        <p:guide orient="horz" pos="2160"/>
        <p:guide orient="horz" pos="1008"/>
        <p:guide orient="horz" pos="3792"/>
        <p:guide orient="horz" pos="1152"/>
        <p:guide orient="horz" pos="3360"/>
        <p:guide orient="horz" pos="3072"/>
        <p:guide orient="horz" pos="864"/>
        <p:guide orient="horz" pos="528"/>
        <p:guide orient="horz" pos="2784"/>
        <p:guide pos="3839"/>
        <p:guide pos="959"/>
        <p:guide pos="7007"/>
        <p:guide pos="6719"/>
        <p:guide pos="6143"/>
        <p:guide pos="3983"/>
        <p:guide pos="527"/>
        <p:guide pos="71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6" d="100"/>
          <a:sy n="76" d="100"/>
        </p:scale>
        <p:origin x="1680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A8D02-4E65-4CCD-8312-4AB164C6C77D}" type="datetimeFigureOut">
              <a:rPr lang="en-US"/>
              <a:pPr/>
              <a:t>12/9/2024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19DBA-4540-49B3-8FA9-6259387ECF9E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76198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755D9-D361-47B8-9652-3B4EA9776CE5}" type="datetimeFigureOut">
              <a:rPr lang="en-US"/>
              <a:pPr/>
              <a:t>12/9/2024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36274-F2B9-4C45-BBB4-0EDF4CD651A7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7688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371600"/>
            <a:ext cx="9144000" cy="3505200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4953000"/>
            <a:ext cx="8229600" cy="1066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2024-25 Odd Sem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06CD8-CA3C-4D6B-A77C-FD4180DE0C47}" type="datetime1">
              <a:rPr lang="en-US" smtClean="0"/>
              <a:t>12/9/2024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501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Clr>
                <a:schemeClr val="accent2"/>
              </a:buClr>
              <a:defRPr/>
            </a:lvl2pPr>
            <a:lvl5pPr>
              <a:defRPr/>
            </a:lvl5pPr>
            <a:lvl6pPr>
              <a:buClr>
                <a:schemeClr val="accent2"/>
              </a:buClr>
              <a:defRPr baseline="0"/>
            </a:lvl6pPr>
            <a:lvl7pPr>
              <a:buClr>
                <a:schemeClr val="accent2"/>
              </a:buClr>
              <a:defRPr baseline="0"/>
            </a:lvl7pPr>
            <a:lvl8pPr>
              <a:buClr>
                <a:schemeClr val="accent2"/>
              </a:buClr>
              <a:defRPr baseline="0"/>
            </a:lvl8pPr>
            <a:lvl9pPr>
              <a:buClr>
                <a:schemeClr val="accent2"/>
              </a:buCl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2024-25 Odd Sem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F2B5F-EBEF-487E-8CBB-EDFD0BD82D69}" type="datetime1">
              <a:rPr lang="en-US" smtClean="0"/>
              <a:t>12/9/2024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337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514601"/>
            <a:ext cx="9144000" cy="2819400"/>
          </a:xfrm>
        </p:spPr>
        <p:txBody>
          <a:bodyPr anchor="b">
            <a:noAutofit/>
          </a:bodyPr>
          <a:lstStyle>
            <a:lvl1pPr algn="l">
              <a:defRPr sz="6600" b="0" i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990600"/>
            <a:ext cx="8229600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2024-25 Odd Sem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C42A9-FB42-45A8-AF82-3EDC2979862E}" type="datetime1">
              <a:rPr lang="en-US" smtClean="0"/>
              <a:t>12/9/2024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654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4" y="1828800"/>
            <a:ext cx="4645152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5412" y="1828800"/>
            <a:ext cx="4648201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2024-25 Odd Sem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FA9EE-CEE9-467A-8B80-9B8B471778C7}" type="datetime1">
              <a:rPr lang="en-US" smtClean="0"/>
              <a:t>12/9/2024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54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4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 baseline="0"/>
            </a:lvl6pPr>
            <a:lvl7pPr>
              <a:defRPr sz="1400" baseline="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8462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8462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2024-25 Odd Sem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4A627-EF1C-4CF5-97AC-395DCFD6CFB4}" type="datetime1">
              <a:rPr lang="en-US" smtClean="0"/>
              <a:t>12/9/2024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924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2024-25 Odd Sem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BFBFE-000F-406F-AA2A-CEEA1F2D477F}" type="datetime1">
              <a:rPr lang="en-US" smtClean="0"/>
              <a:t>12/9/2024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56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2024-25 Odd Sem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F3988-F0C0-470A-95E5-9B63FE8BFDBE}" type="datetime1">
              <a:rPr lang="en-US" smtClean="0"/>
              <a:t>12/9/2024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258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0012" y="838200"/>
            <a:ext cx="6172201" cy="5181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2024-25 Odd Sem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B9CF-D32B-45E5-84EB-BCAB6FD8FE2A}" type="datetime1">
              <a:rPr lang="en-US" smtClean="0"/>
              <a:t>12/9/2024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643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103812" y="457200"/>
            <a:ext cx="6629400" cy="5943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484812" y="836610"/>
            <a:ext cx="5867401" cy="5183190"/>
          </a:xfrm>
          <a:solidFill>
            <a:schemeClr val="bg2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73852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2024-25 Odd Sem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7DF69-ECD3-4E7D-B21C-33825404711E}" type="datetime1">
              <a:rPr lang="en-US" smtClean="0"/>
              <a:t>12/9/2024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316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2012" y="533400"/>
            <a:ext cx="1371600" cy="5592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1" y="533400"/>
            <a:ext cx="8077201" cy="5592764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2024-25 Odd Sem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F66D9-70D9-45DD-BA80-E4EFDD6ECF3C}" type="datetime1">
              <a:rPr lang="en-US" smtClean="0"/>
              <a:t>12/9/2024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540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-1" y="0"/>
            <a:ext cx="12188825" cy="6858000"/>
            <a:chOff x="-1" y="0"/>
            <a:chExt cx="12188825" cy="6858000"/>
          </a:xfrm>
        </p:grpSpPr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4164514" y="6705600"/>
              <a:ext cx="8024310" cy="152400"/>
            </a:xfrm>
            <a:prstGeom prst="rect">
              <a:avLst/>
            </a:prstGeom>
            <a:gradFill rotWithShape="0"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11680956" y="1981200"/>
              <a:ext cx="507868" cy="4267200"/>
            </a:xfrm>
            <a:prstGeom prst="rect">
              <a:avLst/>
            </a:prstGeom>
            <a:gradFill rotWithShape="0">
              <a:gsLst>
                <a:gs pos="0">
                  <a:schemeClr val="tx2">
                    <a:lumMod val="20000"/>
                    <a:lumOff val="8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-1" y="5257800"/>
              <a:ext cx="609441" cy="1524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-1" y="5410200"/>
              <a:ext cx="609441" cy="144780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11680956" y="0"/>
              <a:ext cx="507868" cy="1981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7618015" y="0"/>
              <a:ext cx="4062942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3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609440" y="304800"/>
              <a:ext cx="711015" cy="762000"/>
            </a:xfrm>
            <a:prstGeom prst="rect">
              <a:avLst/>
            </a:prstGeom>
            <a:solidFill>
              <a:schemeClr val="bg2">
                <a:lumMod val="50000"/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5" name="Rectangle 15"/>
            <p:cNvSpPr>
              <a:spLocks noChangeArrowheads="1"/>
            </p:cNvSpPr>
            <p:nvPr/>
          </p:nvSpPr>
          <p:spPr bwMode="auto">
            <a:xfrm>
              <a:off x="-1" y="1066800"/>
              <a:ext cx="609441" cy="4191000"/>
            </a:xfrm>
            <a:prstGeom prst="rect">
              <a:avLst/>
            </a:prstGeom>
            <a:gradFill rotWithShape="0">
              <a:gsLst>
                <a:gs pos="0">
                  <a:schemeClr val="bg2">
                    <a:lumMod val="50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6" name="Rectangle 16"/>
            <p:cNvSpPr>
              <a:spLocks noChangeArrowheads="1"/>
            </p:cNvSpPr>
            <p:nvPr/>
          </p:nvSpPr>
          <p:spPr bwMode="auto">
            <a:xfrm>
              <a:off x="-1" y="304800"/>
              <a:ext cx="609441" cy="762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7" name="Rectangle 17"/>
            <p:cNvSpPr>
              <a:spLocks noChangeArrowheads="1"/>
            </p:cNvSpPr>
            <p:nvPr/>
          </p:nvSpPr>
          <p:spPr bwMode="auto">
            <a:xfrm>
              <a:off x="-1" y="0"/>
              <a:ext cx="1320456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accent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8" name="Rectangle 18"/>
            <p:cNvSpPr>
              <a:spLocks noChangeArrowheads="1"/>
            </p:cNvSpPr>
            <p:nvPr/>
          </p:nvSpPr>
          <p:spPr bwMode="auto">
            <a:xfrm>
              <a:off x="1320455" y="0"/>
              <a:ext cx="6297560" cy="3048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 flipV="1">
              <a:off x="609440" y="304800"/>
              <a:ext cx="0" cy="6553200"/>
            </a:xfrm>
            <a:prstGeom prst="line">
              <a:avLst/>
            </a:prstGeom>
            <a:noFill/>
            <a:ln w="7620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>
              <a:off x="609440" y="6705600"/>
              <a:ext cx="11579384" cy="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 flipV="1">
              <a:off x="11680956" y="0"/>
              <a:ext cx="0" cy="670560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>
              <a:off x="-1" y="304800"/>
              <a:ext cx="12188825" cy="0"/>
            </a:xfrm>
            <a:prstGeom prst="line">
              <a:avLst/>
            </a:prstGeom>
            <a:noFill/>
            <a:ln w="3810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Line 23"/>
            <p:cNvSpPr>
              <a:spLocks noChangeShapeType="1"/>
            </p:cNvSpPr>
            <p:nvPr/>
          </p:nvSpPr>
          <p:spPr bwMode="auto">
            <a:xfrm flipH="1">
              <a:off x="7618015" y="457200"/>
              <a:ext cx="4570809" cy="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Line 24"/>
            <p:cNvSpPr>
              <a:spLocks noChangeShapeType="1"/>
            </p:cNvSpPr>
            <p:nvPr/>
          </p:nvSpPr>
          <p:spPr bwMode="auto">
            <a:xfrm flipV="1">
              <a:off x="7618015" y="0"/>
              <a:ext cx="0" cy="45720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Line 25"/>
            <p:cNvSpPr>
              <a:spLocks noChangeShapeType="1"/>
            </p:cNvSpPr>
            <p:nvPr/>
          </p:nvSpPr>
          <p:spPr bwMode="auto">
            <a:xfrm>
              <a:off x="11680956" y="1981200"/>
              <a:ext cx="5078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Line 26"/>
            <p:cNvSpPr>
              <a:spLocks noChangeShapeType="1"/>
            </p:cNvSpPr>
            <p:nvPr/>
          </p:nvSpPr>
          <p:spPr bwMode="auto">
            <a:xfrm>
              <a:off x="1320455" y="0"/>
              <a:ext cx="0" cy="106680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27"/>
            <p:cNvSpPr>
              <a:spLocks noChangeShapeType="1"/>
            </p:cNvSpPr>
            <p:nvPr/>
          </p:nvSpPr>
          <p:spPr bwMode="auto">
            <a:xfrm flipH="1">
              <a:off x="-1" y="1066800"/>
              <a:ext cx="1320456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Line 30"/>
            <p:cNvSpPr>
              <a:spLocks noChangeShapeType="1"/>
            </p:cNvSpPr>
            <p:nvPr/>
          </p:nvSpPr>
          <p:spPr bwMode="auto">
            <a:xfrm flipH="1">
              <a:off x="-1" y="5257800"/>
              <a:ext cx="609441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Line 31"/>
            <p:cNvSpPr>
              <a:spLocks noChangeShapeType="1"/>
            </p:cNvSpPr>
            <p:nvPr/>
          </p:nvSpPr>
          <p:spPr bwMode="auto">
            <a:xfrm flipH="1">
              <a:off x="-1" y="5410200"/>
              <a:ext cx="60944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9601200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7950" y="6172200"/>
            <a:ext cx="6862462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OOTs Using JAVA Project PPT 2024-25 Odd Sem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09012" y="6172200"/>
            <a:ext cx="1320059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3DC96E31-04A2-4C47-8F1A-B56592412ED0}" type="datetime1">
              <a:rPr lang="en-US" smtClean="0"/>
              <a:t>12/9/2024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33012" y="6172200"/>
            <a:ext cx="9906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52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3838" algn="l" defTabSz="914400" rtl="0" eaLnBrk="1" latinLnBrk="0" hangingPunct="1">
        <a:lnSpc>
          <a:spcPct val="90000"/>
        </a:lnSpc>
        <a:spcBef>
          <a:spcPts val="800"/>
        </a:spcBef>
        <a:buClr>
          <a:schemeClr val="accent2"/>
        </a:buClr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41363" indent="-171450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67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80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44752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82496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57984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03910" y="478625"/>
            <a:ext cx="9727006" cy="114300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 MINI  GAME USING JAVA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OOTS USING JAVA (BCSEH0352)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25860" y="980728"/>
            <a:ext cx="9601200" cy="4151595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endParaRPr lang="en-US" sz="1600" dirty="0">
              <a:latin typeface="Arial" pitchFamily="34" charset="0"/>
              <a:cs typeface="Arial" pitchFamily="34" charset="0"/>
            </a:endParaRPr>
          </a:p>
          <a:p>
            <a:pPr marL="0" lvl="0" indent="0" algn="ctr">
              <a:buNone/>
            </a:pPr>
            <a:endParaRPr lang="en-US" sz="1600" dirty="0">
              <a:latin typeface="Arial" pitchFamily="34" charset="0"/>
              <a:cs typeface="Arial" pitchFamily="34" charset="0"/>
            </a:endParaRPr>
          </a:p>
          <a:p>
            <a:pPr marL="0" lvl="0" indent="0" algn="ctr">
              <a:buNone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Department of Information Technology</a:t>
            </a:r>
          </a:p>
          <a:p>
            <a:pPr marL="0" lvl="0" indent="0" algn="ctr">
              <a:buNone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IT-A</a:t>
            </a:r>
          </a:p>
          <a:p>
            <a:pPr marL="0" lvl="0" indent="0" algn="ctr"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(Submitted To: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Mr. Khalid Ahmad</a:t>
            </a:r>
            <a:r>
              <a:rPr lang="en-US" dirty="0">
                <a:latin typeface="Arial" pitchFamily="34" charset="0"/>
                <a:cs typeface="Arial" pitchFamily="34" charset="0"/>
              </a:rPr>
              <a:t>)</a:t>
            </a:r>
          </a:p>
          <a:p>
            <a:pPr marL="0" lv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>
              <a:buNone/>
            </a:pPr>
            <a:endParaRPr lang="en-US" dirty="0"/>
          </a:p>
          <a:p>
            <a:pPr marL="0" lvl="0" indent="0" algn="ctr">
              <a:buNone/>
            </a:pPr>
            <a:endParaRPr lang="en-US" dirty="0"/>
          </a:p>
          <a:p>
            <a:pPr marL="0" lvl="0" indent="0" algn="ctr">
              <a:buNone/>
            </a:pPr>
            <a:endParaRPr lang="en-US" dirty="0"/>
          </a:p>
          <a:p>
            <a:pPr marL="0" lvl="0" indent="0" algn="ctr">
              <a:buNone/>
            </a:pPr>
            <a:endParaRPr lang="en-US" dirty="0"/>
          </a:p>
          <a:p>
            <a:pPr marL="0" lvl="0" indent="0" algn="ctr">
              <a:buNone/>
            </a:pP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D35DFE-0D21-4638-83BD-6EE30128DF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963480"/>
              </p:ext>
            </p:extLst>
          </p:nvPr>
        </p:nvGraphicFramePr>
        <p:xfrm>
          <a:off x="1542240" y="3284984"/>
          <a:ext cx="8872652" cy="2055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9196">
                  <a:extLst>
                    <a:ext uri="{9D8B030D-6E8A-4147-A177-3AD203B41FA5}">
                      <a16:colId xmlns:a16="http://schemas.microsoft.com/office/drawing/2014/main" val="1489308670"/>
                    </a:ext>
                  </a:extLst>
                </a:gridCol>
                <a:gridCol w="2105880">
                  <a:extLst>
                    <a:ext uri="{9D8B030D-6E8A-4147-A177-3AD203B41FA5}">
                      <a16:colId xmlns:a16="http://schemas.microsoft.com/office/drawing/2014/main" val="3062725700"/>
                    </a:ext>
                  </a:extLst>
                </a:gridCol>
                <a:gridCol w="2914333">
                  <a:extLst>
                    <a:ext uri="{9D8B030D-6E8A-4147-A177-3AD203B41FA5}">
                      <a16:colId xmlns:a16="http://schemas.microsoft.com/office/drawing/2014/main" val="985814749"/>
                    </a:ext>
                  </a:extLst>
                </a:gridCol>
                <a:gridCol w="2173243">
                  <a:extLst>
                    <a:ext uri="{9D8B030D-6E8A-4147-A177-3AD203B41FA5}">
                      <a16:colId xmlns:a16="http://schemas.microsoft.com/office/drawing/2014/main" val="2731764778"/>
                    </a:ext>
                  </a:extLst>
                </a:gridCol>
              </a:tblGrid>
              <a:tr h="71183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Name of 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Roll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Department n Section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739875"/>
                  </a:ext>
                </a:extLst>
              </a:tr>
              <a:tr h="7866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PARTH PANDEY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2301330130122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GUI of project </a:t>
                      </a:r>
                    </a:p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(what to display)</a:t>
                      </a:r>
                    </a:p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and GUI.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IT-A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3880534"/>
                  </a:ext>
                </a:extLst>
              </a:tr>
              <a:tr h="55719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OBAID JAMAL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2301330130120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Making of presentation , and combining of logic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IT-A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9938205"/>
                  </a:ext>
                </a:extLst>
              </a:tr>
            </a:tbl>
          </a:graphicData>
        </a:graphic>
      </p:graphicFrame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C2D30C3A-395C-C608-9DE6-FE457955FE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6740" y="738444"/>
            <a:ext cx="2209800" cy="94726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F07BBA-293C-9928-F41B-009D80BCD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2024-25 Odd Sem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996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DEE56-5ACD-47A3-8DAE-BAA093015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879376"/>
          </a:xfrm>
        </p:spPr>
        <p:txBody>
          <a:bodyPr/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                              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5BA36-30B6-42D8-82C9-C62A3F36F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5211" y="836712"/>
            <a:ext cx="10058403" cy="5183088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Survey/Existing System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Study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/Software Requirement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Conclusion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Demonstration of Project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647FDC-4C42-4481-9FE6-05DF8CFF7D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4652" y="959984"/>
            <a:ext cx="2720340" cy="226695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969DE-A499-6371-67BC-7727378CC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2024-25 Odd Sem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614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84D51-4808-003E-6831-DD77E92DA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6719A0F-186C-4132-133E-3B5873685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70" y="412751"/>
            <a:ext cx="9601200" cy="856009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INTRODUCTION</a:t>
            </a:r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2EDC1176-1DF3-28D3-6A18-771CC86DC04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6740" y="738444"/>
            <a:ext cx="2209800" cy="94726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D1CB6D-B1B8-AD23-EBA8-51BD1253D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OOTs Using JAVA Project PPT 2024-25 Odd Sem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53B0734-1755-4393-DDAF-21F01CC13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804" y="1264135"/>
            <a:ext cx="10429802" cy="5176489"/>
          </a:xfrm>
        </p:spPr>
        <p:txBody>
          <a:bodyPr>
            <a:normAutofit/>
          </a:bodyPr>
          <a:lstStyle/>
          <a:p>
            <a:pPr lvl="2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the Project:</a:t>
            </a:r>
          </a:p>
          <a:p>
            <a:pPr lvl="2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beginner-friendly 2D game where players move a paddle to catch a falling ball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lvl="2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to showcase Java's capabilities in graphical programming</a:t>
            </a:r>
            <a:r>
              <a:rPr lang="en-US" sz="2800" dirty="0"/>
              <a:t>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</a:p>
          <a:p>
            <a:pPr lvl="2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hands-on experience in game mechanics, graphics rendering, and user interaction using Java.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Java?</a:t>
            </a:r>
          </a:p>
          <a:p>
            <a:pPr lvl="2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 compatibility</a:t>
            </a:r>
          </a:p>
          <a:p>
            <a:pPr lvl="2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Rich libraries for graphical applications.</a:t>
            </a:r>
          </a:p>
          <a:p>
            <a:pPr lvl="2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Simplified development process for 2D games.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0633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17335-5439-CBB4-A86C-BB1E45D67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AF42CD3D-A0F0-C09A-1864-40325D1967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7477" y="939141"/>
            <a:ext cx="2209800" cy="947268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356E3965-144A-EFFC-43B5-D612E2A93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897" y="421878"/>
            <a:ext cx="10130036" cy="1062906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 SURVEY &amp; EXISTING SYSTEMS </a:t>
            </a:r>
            <a:br>
              <a:rPr lang="en-US" sz="31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C29BEF0-EABC-FB36-FDDD-52E80EB1C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868" y="1196751"/>
            <a:ext cx="9817224" cy="4722108"/>
          </a:xfrm>
        </p:spPr>
        <p:txBody>
          <a:bodyPr>
            <a:normAutofit lnSpcReduction="10000"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existing 2D games are developed using advanced engines like Unity, Godot, or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libGDX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often require steep learning curves and significant resources.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Examples: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 games like Catch the Ball, Pong, and Flappy Bird demonstrate simple but engaging mechanics</a:t>
            </a:r>
            <a:r>
              <a:rPr lang="en-US" sz="2000" dirty="0"/>
              <a:t>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Identified: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basic, easily implementable examples to teach beginner programmers game development fundamentals</a:t>
            </a:r>
            <a:r>
              <a:rPr lang="en-US" sz="2000" dirty="0"/>
              <a:t>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FA913B-A7EE-B159-9A11-7E0827696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OOTs Using JAVA Project PPT 2024-25 Odd Sem</a:t>
            </a:r>
          </a:p>
        </p:txBody>
      </p:sp>
    </p:spTree>
    <p:extLst>
      <p:ext uri="{BB962C8B-B14F-4D97-AF65-F5344CB8AC3E}">
        <p14:creationId xmlns:p14="http://schemas.microsoft.com/office/powerpoint/2010/main" val="2469231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D0964-E876-B9CE-524F-53796397A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CDCDCB8-ADEE-0BC5-D234-50FDF9A64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16" y="404665"/>
            <a:ext cx="10345216" cy="792088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70F9F030-0AFE-BF36-7517-9EAF3E7939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6740" y="738444"/>
            <a:ext cx="2209800" cy="94726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33B056-CFEF-95D1-A0C2-36B057774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528" y="6437515"/>
            <a:ext cx="6862462" cy="273049"/>
          </a:xfrm>
        </p:spPr>
        <p:txBody>
          <a:bodyPr/>
          <a:lstStyle/>
          <a:p>
            <a:r>
              <a:rPr lang="en-US" dirty="0"/>
              <a:t>OOTs Using JAVA Project PPT 2024-25 Odd Sem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4BCC8C3-5F19-7228-BC16-FC1847A72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868" y="1212078"/>
            <a:ext cx="9817224" cy="4823047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Issues: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Beginners face challenges in understanding complex game engines and frameworks.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 minimalistic project to teach core programming concepts while being engaging.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straightforward and interactive game that demonstrates the basics of graphics, input handling, and collision detection.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792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15D98-D3E7-1793-8B2E-2EAD55640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4C01E55-2D9B-223B-4475-4119DB4ED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40" y="69078"/>
            <a:ext cx="10008468" cy="978032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E621A38D-428F-6A7E-AD52-22E5EF21AB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6740" y="738444"/>
            <a:ext cx="2209800" cy="94726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C10917-CBCD-FD51-DB16-2B6A6C03C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OOTs Using JAVA Project PPT 2024-25 Odd Sem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A49BB31-C0B1-6204-568A-9554D81C1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5860" y="980728"/>
            <a:ext cx="10274696" cy="5464521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the Game: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Ball moves downward from the top of the screen.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paddle at the bottom moves left and right to catch the ball</a:t>
            </a:r>
            <a:r>
              <a:rPr lang="en-US" dirty="0"/>
              <a:t>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Steps: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Java Swing for GUI and graphics rendering.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 timer for smooth animations.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user input through keyboard events for paddle movement.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scoring system,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Game-over screen with restart functionality.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Collision detection for interaction between the ball and the paddle</a:t>
            </a:r>
            <a:r>
              <a:rPr lang="en-US" dirty="0"/>
              <a:t>.</a:t>
            </a:r>
            <a:endParaRPr lang="en-IN" dirty="0"/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5837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087CB-8F09-D351-0200-55A81AA96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2CF2E8E-2D02-3B4F-ED11-7E8AB8969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780" y="99753"/>
            <a:ext cx="10369152" cy="947268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 ARCHITECTURE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85C1E3C0-8E70-86DD-62A2-0450B08794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6740" y="738444"/>
            <a:ext cx="2209800" cy="947268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4E33754-006F-3C41-118E-55E5CD132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1927" y="1215744"/>
            <a:ext cx="9601200" cy="4903812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Components: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Ball: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the falling object with position and velocity attributes.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Paddle: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Controlled by the player using keyboard inputs.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 System: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 in real-time as the ball is caught.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 Loop: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continuous updates for ball movement, collision detection, and user input handling.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Diagram: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→ Ball Movement → Collision Check → Score Update → Game Over Condition → Restart Option.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85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E56A7-1EB2-C399-E96A-46772D18F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2E43492C-52CA-ECA4-9FF6-5C633E5BA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30" y="260647"/>
            <a:ext cx="9678138" cy="849561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STUDY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4EF05E48-4A11-6377-E907-873585C1CB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6740" y="738444"/>
            <a:ext cx="2209800" cy="947268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9969438-765A-A4F0-7D0F-A5B39F486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868" y="1196752"/>
            <a:ext cx="9601200" cy="4824536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 standard Java libraries and tools.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Compatible with most operating systems (Windows, Linux, macOS).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Feasibility: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as no third-party tools or licenses are required.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free IDEs and JDK.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Feasibility: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to run and understand, making it ideal for educational purposes.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8105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F2E1A-7F96-2578-C6E5-B3CC892D0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7C6064F7-13F0-023D-96CA-B9D8EA425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820" y="110065"/>
            <a:ext cx="10009112" cy="1086687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898FE7D4-3A5E-277A-B1FE-9E9677AC10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6740" y="738444"/>
            <a:ext cx="2209800" cy="947268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EBB264-D4F1-7443-4C39-C9BD9DD6D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868" y="1196752"/>
            <a:ext cx="9457184" cy="5328592"/>
          </a:xfrm>
        </p:spPr>
        <p:txBody>
          <a:bodyPr/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Specifications: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2.0 GHz or higher.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At least 2 GB.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 Space: 50 MB for JDK and project files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Graphics Card: Not required for basic 2D games.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Devices: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keyboard for paddle control.</a:t>
            </a:r>
          </a:p>
        </p:txBody>
      </p:sp>
    </p:spTree>
    <p:extLst>
      <p:ext uri="{BB962C8B-B14F-4D97-AF65-F5344CB8AC3E}">
        <p14:creationId xmlns:p14="http://schemas.microsoft.com/office/powerpoint/2010/main" val="2437299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55CFF-9199-5EE7-E9EA-0B1EA006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77762041-B589-4E70-43F6-F7B2F0BCE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820" y="110066"/>
            <a:ext cx="10009112" cy="947268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4707F0E7-D0E3-A780-0A76-B4C2D16C9D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6740" y="738444"/>
            <a:ext cx="2209800" cy="947268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D6F26F-C52F-B466-7BE0-3A8973BE2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868" y="1340768"/>
            <a:ext cx="9457184" cy="5184576"/>
          </a:xfrm>
        </p:spPr>
        <p:txBody>
          <a:bodyPr/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Development Kit (JDK) 8 or higher.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Development Environment (IDE): IntelliJ IDEA, Eclipse, or NetBeans.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Windows, macOS, or Linux.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Used: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Swing for GUI and graphics.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da-D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Timer for game loop implementation.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516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4A9F5-5FF5-4C97-DAEE-A2D211D14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2FC0E32-33E3-D6DC-A834-E81F072BA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820" y="110065"/>
            <a:ext cx="10081120" cy="947269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96C3C20C-5656-A691-007F-D959DC3556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6740" y="738444"/>
            <a:ext cx="2209800" cy="947268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B857611-DEF1-F101-DE62-B870943C0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868" y="1484784"/>
            <a:ext cx="9457184" cy="5040560"/>
          </a:xfrm>
        </p:spPr>
        <p:txBody>
          <a:bodyPr>
            <a:no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 Logic: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Ball falls at a constant speed, bouncing off walls and paddle.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Paddle moves left or right based on user input.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Collision Detection: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if the ball intersects with the paddle.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true, the ball bounces upward, and the score is updated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 Over Condition: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Triggered when the ball falls below the paddle without being caught.</a:t>
            </a:r>
          </a:p>
        </p:txBody>
      </p:sp>
    </p:spTree>
    <p:extLst>
      <p:ext uri="{BB962C8B-B14F-4D97-AF65-F5344CB8AC3E}">
        <p14:creationId xmlns:p14="http://schemas.microsoft.com/office/powerpoint/2010/main" val="559358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E073E-A4DE-E5EB-8BA7-023FF5515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847625F-8410-1621-C64B-FB745ECAF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820" y="110065"/>
            <a:ext cx="10009112" cy="947269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E7F9C8DC-8408-2031-AD17-AE4D0709E7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6740" y="738444"/>
            <a:ext cx="2209800" cy="947268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509FD9F-833B-C0E6-0A9C-8B59AAFB9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868" y="1268760"/>
            <a:ext cx="9457184" cy="5256584"/>
          </a:xfrm>
        </p:spPr>
        <p:txBody>
          <a:bodyPr>
            <a:no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Features: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gameplay with responsive controls.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score tracking.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 animations and clear visuals.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 Over Functionality: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a "Game Over" message.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the player to restart the game.</a:t>
            </a:r>
          </a:p>
        </p:txBody>
      </p:sp>
    </p:spTree>
    <p:extLst>
      <p:ext uri="{BB962C8B-B14F-4D97-AF65-F5344CB8AC3E}">
        <p14:creationId xmlns:p14="http://schemas.microsoft.com/office/powerpoint/2010/main" val="4293248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1C23D-A260-9C68-7840-823E5D541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75CA08C9-9CAF-04D0-EBDF-B53F9A1E0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820" y="110065"/>
            <a:ext cx="10081120" cy="947269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896E5320-322F-35D3-C8B0-BF8914EA9C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6740" y="738444"/>
            <a:ext cx="2209800" cy="947268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9AD7F6-069A-9C3A-A4CD-BC34011AE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868" y="1268760"/>
            <a:ext cx="9457184" cy="5256584"/>
          </a:xfrm>
        </p:spPr>
        <p:txBody>
          <a:bodyPr>
            <a:no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Collision Detection: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accurate detection between the ball and paddl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 Loop Optimization: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smooth and consistent ball movement.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Keyboard Event Handling: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responsive paddle control without lag.</a:t>
            </a:r>
          </a:p>
        </p:txBody>
      </p:sp>
    </p:spTree>
    <p:extLst>
      <p:ext uri="{BB962C8B-B14F-4D97-AF65-F5344CB8AC3E}">
        <p14:creationId xmlns:p14="http://schemas.microsoft.com/office/powerpoint/2010/main" val="205764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0702E-78D9-CD5A-9456-9666873F4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B36549D-D53F-A63E-359D-D8148F369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820" y="110065"/>
            <a:ext cx="10081120" cy="947269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A829D530-C3FE-A958-FCC5-C803DBFC89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6740" y="738444"/>
            <a:ext cx="2209800" cy="947268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5853F7C-C649-249B-04E0-A45E0ECA1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868" y="1484784"/>
            <a:ext cx="9457184" cy="5040560"/>
          </a:xfrm>
        </p:spPr>
        <p:txBody>
          <a:bodyPr>
            <a:no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Graphics Improvement: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more visually appealing assets and animations.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Levels: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varying speeds or obstacles for advanced players.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Multiplayer Mode: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 competitive element by allowing two players to control separate paddles.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Leaderboard: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and display high scores.</a:t>
            </a:r>
          </a:p>
        </p:txBody>
      </p:sp>
    </p:spTree>
    <p:extLst>
      <p:ext uri="{BB962C8B-B14F-4D97-AF65-F5344CB8AC3E}">
        <p14:creationId xmlns:p14="http://schemas.microsoft.com/office/powerpoint/2010/main" val="2448532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87CFE-8C0A-C23B-BAA6-234E8DA3E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BF75878-6754-8E54-05B9-C96A16F5D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820" y="110065"/>
            <a:ext cx="10081120" cy="1158695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85629BBD-3784-D793-8B58-18196DF268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6740" y="738444"/>
            <a:ext cx="2209800" cy="947268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6AD367-EAA0-BAB3-2C12-5D49B107E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868" y="1685712"/>
            <a:ext cx="9457184" cy="4839631"/>
          </a:xfrm>
        </p:spPr>
        <p:txBody>
          <a:bodyPr>
            <a:no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Official Documentation: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https://docs.oracle.com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TutorialsPoint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Swing Programming.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Repositories for Beginner Java Games.</a:t>
            </a:r>
          </a:p>
          <a:p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Youtube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tutorial and errors detection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Notepad for saving files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179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2882B-293C-D188-1049-FEB8588CE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A8D292DF-B841-0670-5366-5FAC0EED88E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3205" y="908720"/>
            <a:ext cx="2209800" cy="947268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E6526AE6-8E7C-3BF6-10D6-292DF590D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820" y="110065"/>
            <a:ext cx="10081120" cy="947269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DEMONSTRATION OF THE PROJECT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F1C0DE-77F6-8843-B86A-166ECE04D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868" y="1340768"/>
            <a:ext cx="9457184" cy="5184576"/>
          </a:xfrm>
        </p:spPr>
        <p:txBody>
          <a:bodyPr>
            <a:no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to Run: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 the program in any Java IDE.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the main class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CatchTheBall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gameplay, including catching the ball, scoring, and game-over conditions.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Session: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 the code structure and logic behind key features.</a:t>
            </a:r>
          </a:p>
        </p:txBody>
      </p:sp>
    </p:spTree>
    <p:extLst>
      <p:ext uri="{BB962C8B-B14F-4D97-AF65-F5344CB8AC3E}">
        <p14:creationId xmlns:p14="http://schemas.microsoft.com/office/powerpoint/2010/main" val="2577285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836" y="2636912"/>
            <a:ext cx="10070868" cy="4221088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GB" sz="8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3BA430-BAD9-FBE2-C508-F9B9BDB18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2024-25 Odd Sem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61AA5-D64D-404D-9F0D-B68D4DD73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3892" y="260649"/>
            <a:ext cx="10081120" cy="936104"/>
          </a:xfrm>
        </p:spPr>
        <p:txBody>
          <a:bodyPr/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             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FROM THE PANEL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191B4-BF36-4C6D-B04B-A777C2684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868" y="1556792"/>
            <a:ext cx="9925746" cy="4463008"/>
          </a:xfrm>
        </p:spPr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panel wants the team to :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98DE8E-F248-E6F4-D7E3-99A5948A0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2024-25 Odd Sem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143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ertical and Horizontal design templat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Vertical and horizontal design slides.potx" id="{7E307492-4344-40EC-954C-E30551E95991}" vid="{493C3130-E1FA-416B-8465-D41FAD56C1B7}"/>
    </a:ext>
  </a:extLst>
</a:theme>
</file>

<file path=ppt/theme/theme2.xml><?xml version="1.0" encoding="utf-8"?>
<a:theme xmlns:a="http://schemas.openxmlformats.org/drawingml/2006/main" name="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F8D7F6E4E2D7448B3A8192F796A48E" ma:contentTypeVersion="5" ma:contentTypeDescription="Create a new document." ma:contentTypeScope="" ma:versionID="ff78e59d181e7d1c8e1def2a9bb68d21">
  <xsd:schema xmlns:xsd="http://www.w3.org/2001/XMLSchema" xmlns:xs="http://www.w3.org/2001/XMLSchema" xmlns:p="http://schemas.microsoft.com/office/2006/metadata/properties" xmlns:ns3="90bfe6d5-1c4b-431c-a44b-9ea4bfa711c4" targetNamespace="http://schemas.microsoft.com/office/2006/metadata/properties" ma:root="true" ma:fieldsID="99519371da91c325a9504f206b8d0dad" ns3:_="">
    <xsd:import namespace="90bfe6d5-1c4b-431c-a44b-9ea4bfa711c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bfe6d5-1c4b-431c-a44b-9ea4bfa711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622F314-2044-4E5C-8691-EBE5A041D5F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0bfe6d5-1c4b-431c-a44b-9ea4bfa711c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FD29240-31CC-4D75-89D5-B695298EFEC2}">
  <ds:schemaRefs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elements/1.1/"/>
    <ds:schemaRef ds:uri="90bfe6d5-1c4b-431c-a44b-9ea4bfa711c4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86DD09C-2ADE-4EA8-ACCE-E6ACC5D9EED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Vertical and horizontal design slides</Template>
  <TotalTime>1825</TotalTime>
  <Words>967</Words>
  <Application>Microsoft Office PowerPoint</Application>
  <PresentationFormat>Custom</PresentationFormat>
  <Paragraphs>168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굴림</vt:lpstr>
      <vt:lpstr>Arial</vt:lpstr>
      <vt:lpstr>Century Gothic</vt:lpstr>
      <vt:lpstr>Times New Roman</vt:lpstr>
      <vt:lpstr>Vertical and Horizontal design template</vt:lpstr>
      <vt:lpstr>2D MINI  GAME USING JAVA OOTS USING JAVA (BCSEH0352)</vt:lpstr>
      <vt:lpstr>                                  INDEX</vt:lpstr>
      <vt:lpstr> INTRODUCTION</vt:lpstr>
      <vt:lpstr>   LITERATURE SURVEY &amp; EXISTING SYSTEMS  </vt:lpstr>
      <vt:lpstr>PROBLEM STATEMENT</vt:lpstr>
      <vt:lpstr>PROPOSED METHODOLOGY</vt:lpstr>
      <vt:lpstr>GAME ARCHITECTURE</vt:lpstr>
      <vt:lpstr>FEASIBILITY STUDY</vt:lpstr>
      <vt:lpstr>HARDWARE REQUIREMENTS</vt:lpstr>
      <vt:lpstr>SOFTWARE REQUIREMENTS</vt:lpstr>
      <vt:lpstr>IMPLEMENTATION DETAILS</vt:lpstr>
      <vt:lpstr>RESULTS</vt:lpstr>
      <vt:lpstr>CHALLENGES FACED</vt:lpstr>
      <vt:lpstr>FUTURE ENHANCEMENTS</vt:lpstr>
      <vt:lpstr>REFERENCES</vt:lpstr>
      <vt:lpstr>LIVE DEMONSTRATION OF THE PROJECT</vt:lpstr>
      <vt:lpstr>PowerPoint Presentation</vt:lpstr>
      <vt:lpstr>                 FEEDBACK FROM THE PANEL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Exam Duty Allocation</dc:title>
  <dc:creator>Sudhanshu</dc:creator>
  <cp:lastModifiedBy>Parth Pandey</cp:lastModifiedBy>
  <cp:revision>91</cp:revision>
  <dcterms:created xsi:type="dcterms:W3CDTF">2017-11-16T17:39:44Z</dcterms:created>
  <dcterms:modified xsi:type="dcterms:W3CDTF">2024-12-09T07:49:22Z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0x010100D3F8D7F6E4E2D7448B3A8192F796A48E</vt:lpwstr>
  </property>
  <property fmtid="{D5CDD505-2E9C-101B-9397-08002B2CF9AE}" pid="3" name="Order">
    <vt:r8>74067800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